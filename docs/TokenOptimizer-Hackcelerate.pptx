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1A5EB8"/>
            </a:solidFill>
          </c:spPr>
          <c:cat>
            <c:strRef>
              <c:f>Sheet1!$A$2:$A$9</c:f>
              <c:strCache>
                <c:ptCount val="8"/>
                <c:pt idx="0">
                  <c:v>checkout-retry</c:v>
                </c:pt>
                <c:pt idx="1">
                  <c:v>fraud-scoring</c:v>
                </c:pt>
                <c:pt idx="2">
                  <c:v>wallet-topup</c:v>
                </c:pt>
                <c:pt idx="3">
                  <c:v>scheduled-payout</c:v>
                </c:pt>
                <c:pt idx="4">
                  <c:v>sso-login</c:v>
                </c:pt>
                <c:pt idx="5">
                  <c:v>audit-log</c:v>
                </c:pt>
                <c:pt idx="6">
                  <c:v>api-rate-limit</c:v>
                </c:pt>
                <c:pt idx="7">
                  <c:v>feature-flags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</c:v>
                </c:pt>
                <c:pt idx="1">
                  <c:v>19</c:v>
                </c:pt>
                <c:pt idx="2">
                  <c:v>20</c:v>
                </c:pt>
                <c:pt idx="3">
                  <c:v>19</c:v>
                </c:pt>
                <c:pt idx="4">
                  <c:v>19</c:v>
                </c:pt>
                <c:pt idx="5">
                  <c:v>20</c:v>
                </c:pt>
                <c:pt idx="6">
                  <c:v>20</c:v>
                </c:pt>
                <c:pt idx="7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Optimised</c:v>
                </c:pt>
              </c:strCache>
            </c:strRef>
          </c:tx>
          <c:spPr>
            <a:solidFill>
              <a:srgbClr val="1E8E4E"/>
            </a:solidFill>
          </c:spPr>
          <c:cat>
            <c:strRef>
              <c:f>Sheet1!$A$2:$A$9</c:f>
              <c:strCache>
                <c:ptCount val="8"/>
                <c:pt idx="0">
                  <c:v>checkout-retry</c:v>
                </c:pt>
                <c:pt idx="1">
                  <c:v>fraud-scoring</c:v>
                </c:pt>
                <c:pt idx="2">
                  <c:v>wallet-topup</c:v>
                </c:pt>
                <c:pt idx="3">
                  <c:v>scheduled-payout</c:v>
                </c:pt>
                <c:pt idx="4">
                  <c:v>sso-login</c:v>
                </c:pt>
                <c:pt idx="5">
                  <c:v>audit-log</c:v>
                </c:pt>
                <c:pt idx="6">
                  <c:v>api-rate-limit</c:v>
                </c:pt>
                <c:pt idx="7">
                  <c:v>feature-flags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</c:v>
                </c:pt>
                <c:pt idx="1">
                  <c:v>23</c:v>
                </c:pt>
                <c:pt idx="2">
                  <c:v>25</c:v>
                </c:pt>
                <c:pt idx="3">
                  <c:v>24</c:v>
                </c:pt>
                <c:pt idx="4">
                  <c:v>23</c:v>
                </c:pt>
                <c:pt idx="5">
                  <c:v>25</c:v>
                </c:pt>
                <c:pt idx="6">
                  <c:v>25</c:v>
                </c:pt>
                <c:pt idx="7">
                  <c:v>24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75887"/>
            <a:ext cx="12191695" cy="73152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005840" cy="1005840"/>
          </a:xfrm>
          <a:prstGeom prst="round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058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T:O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TokenOptimizer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862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D6E2F2"/>
                </a:solidFill>
                <a:latin typeface="Segoe UI"/>
              </a:rPr>
              <a:t>Two skills that optimise AI token usage in feature development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FB6D4"/>
                </a:solidFill>
                <a:latin typeface="Segoe UI"/>
              </a:rPr>
              <a:t>Compress the PRD · anchor plans to real code · route to the right model — and prove it with A/B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FB4E0"/>
                </a:solidFill>
                <a:latin typeface="Segoe UI"/>
              </a:rPr>
              <a:t>Hackcelerate — Token Optimisation  ·  15 Jul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WHY THIS MATTERS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Large, verbose PRDs are fed straight into LLMs — high input-token cost on every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AI plans reference vague or hallucinated file locations — wasted regeneration cycles, low trust.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Every task, trivial or complex, hits the most expensive model — overspending on simple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No measurable quality baseline — cost cuts risk silently degrading output.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881360" cy="50292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2365C"/>
                </a:solidFill>
                <a:latin typeface="Segoe UI"/>
              </a:rPr>
              <a:t>Net effect: rising AI spend, inconsistent quality, and no data-driven way to prove ROI.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OPTIMISE TOKENS, KEEP QUALITY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The Solution — Two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49240" cy="40233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5349240" cy="128016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A5EB8"/>
                </a:solidFill>
                <a:latin typeface="Segoe UI"/>
              </a:rPr>
              <a:t>SKILL 1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12365C"/>
                </a:solidFill>
                <a:latin typeface="Segoe UI"/>
              </a:rPr>
              <a:t>PRD Compression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33A"/>
                </a:solidFill>
                <a:latin typeface="Segoe UI"/>
              </a:rPr>
              <a:t>Distils a verbose PRD into dense, structured requirement atoms before it reaches the model — ~67% fewer input tokens, acceptance criteria kept verbatim.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554480"/>
            <a:ext cx="5349240" cy="40233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54480"/>
            <a:ext cx="5349240" cy="128016"/>
          </a:xfrm>
          <a:prstGeom prst="rect">
            <a:avLst/>
          </a:prstGeom>
          <a:solidFill>
            <a:srgbClr val="1E8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E8E4E"/>
                </a:solidFill>
                <a:latin typeface="Segoe UI"/>
              </a:rPr>
              <a:t>SKILL 2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400" b="1">
                <a:solidFill>
                  <a:srgbClr val="12365C"/>
                </a:solidFill>
                <a:latin typeface="Segoe UI"/>
              </a:rPr>
              <a:t>Anchoring + Routing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33A"/>
                </a:solidFill>
                <a:latin typeface="Segoe UI"/>
              </a:rPr>
              <a:t>Anchors every plan step to a real file:line reference (flagging hallucinations), and routes each task to the cheapest capable model.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~67% FEWER INPUT TOKENS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Skill 1 · PRD Compression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Strips boilerplate, framing, hedging and formatting noise.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Extracts only decision-relevant requirements: goals, constraints, acceptance criteria, non-functional, dependencies, out-of-scope.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Preserves acceptance criteria verbatim — the build is never checked against a paraphrase.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Deterministic and fully offline — no API key, no model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881360" cy="50292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2365C"/>
                </a:solidFill>
                <a:latin typeface="Segoe UI"/>
              </a:rPr>
              <a:t>Result: ~73% smaller PRDs with no loss of decision-critical content.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GROUNDED OUTPUT, SMART SPEND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Skill 2 · Codebase Anchoring + Model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Indexes the repo (AST for Python, regex for JS/TS/Java/Go/Ruby/C#) into a file:line symbol table.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Anchors each plan step to real references; unresolved symbols are flagged as possible hallucinations.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Classifies task complexity (trivial / standard / complex) with a confidence score.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Routes trivial → Haiku, standard → Sonnet, complex → Opus; low confidence upgrades toward premium.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881360" cy="50292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2365C"/>
                </a:solidFill>
                <a:latin typeface="Segoe UI"/>
              </a:rPr>
              <a:t>Fewer hallucination-driven rework loops + the cheapest capable model per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END-TO-END FLOW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How It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1628089" cy="1371600"/>
          </a:xfrm>
          <a:prstGeom prst="roundRect">
            <a:avLst/>
          </a:prstGeom>
          <a:solidFill>
            <a:srgbClr val="5F6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62808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Raw PRD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268169" y="3246120"/>
            <a:ext cx="228600" cy="365760"/>
          </a:xfrm>
          <a:prstGeom prst="rightArrow">
            <a:avLst/>
          </a:prstGeom>
          <a:solidFill>
            <a:srgbClr val="B9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96769" y="2743200"/>
            <a:ext cx="1628089" cy="1371600"/>
          </a:xfrm>
          <a:prstGeom prst="round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96769" y="2743200"/>
            <a:ext cx="162808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Compress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24858" y="3246120"/>
            <a:ext cx="228600" cy="365760"/>
          </a:xfrm>
          <a:prstGeom prst="rightArrow">
            <a:avLst/>
          </a:prstGeom>
          <a:solidFill>
            <a:srgbClr val="B9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53458" y="2743200"/>
            <a:ext cx="1628089" cy="1371600"/>
          </a:xfrm>
          <a:prstGeom prst="roundRect">
            <a:avLst/>
          </a:prstGeom>
          <a:solidFill>
            <a:srgbClr val="1E8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3458" y="2743200"/>
            <a:ext cx="162808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Anchor plan
(file:line)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81547" y="3246120"/>
            <a:ext cx="228600" cy="365760"/>
          </a:xfrm>
          <a:prstGeom prst="rightArrow">
            <a:avLst/>
          </a:prstGeom>
          <a:solidFill>
            <a:srgbClr val="B9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0147" y="2743200"/>
            <a:ext cx="1628089" cy="1371600"/>
          </a:xfrm>
          <a:prstGeom prst="round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0147" y="2743200"/>
            <a:ext cx="162808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Route model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38236" y="3246120"/>
            <a:ext cx="228600" cy="365760"/>
          </a:xfrm>
          <a:prstGeom prst="rightArrow">
            <a:avLst/>
          </a:prstGeom>
          <a:solidFill>
            <a:srgbClr val="B9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66836" y="2743200"/>
            <a:ext cx="1628089" cy="1371600"/>
          </a:xfrm>
          <a:prstGeom prst="round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66836" y="2743200"/>
            <a:ext cx="162808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LLM call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694925" y="3246120"/>
            <a:ext cx="228600" cy="365760"/>
          </a:xfrm>
          <a:prstGeom prst="rightArrow">
            <a:avLst/>
          </a:prstGeom>
          <a:solidFill>
            <a:srgbClr val="B9C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23525" y="2743200"/>
            <a:ext cx="1628089" cy="1371600"/>
          </a:xfrm>
          <a:prstGeom prst="roundRect">
            <a:avLst/>
          </a:prstGeom>
          <a:solidFill>
            <a:srgbClr val="1E8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3525" y="2743200"/>
            <a:ext cx="1628089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Metrics +
Dashboard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F6B7D"/>
                </a:solidFill>
                <a:latin typeface="Segoe UI"/>
              </a:rPr>
              <a:t>Deterministic and offline-first: every stage works with no API key; a Claude key or local model only improves quality.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8 A/B TESTS ACROSS 2 BUSINESS UNITS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Validated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651760" cy="21945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51760" cy="128016"/>
          </a:xfrm>
          <a:prstGeom prst="rect">
            <a:avLst/>
          </a:prstGeom>
          <a:solidFill>
            <a:srgbClr val="1E8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6517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E8E4E"/>
                </a:solidFill>
                <a:latin typeface="Segoe UI"/>
              </a:rPr>
              <a:t>58%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16233A"/>
                </a:solidFill>
                <a:latin typeface="Segoe UI"/>
              </a:rPr>
              <a:t>Avg cost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28800"/>
            <a:ext cx="2651760" cy="21945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828800"/>
            <a:ext cx="2651760" cy="128016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286000"/>
            <a:ext cx="26517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A5EB8"/>
                </a:solidFill>
                <a:latin typeface="Segoe UI"/>
              </a:rPr>
              <a:t>73%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38328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16233A"/>
                </a:solidFill>
                <a:latin typeface="Segoe UI"/>
              </a:rPr>
              <a:t>Avg PRD compression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2651760" cy="21945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2651760" cy="128016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286000"/>
            <a:ext cx="26517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2365C"/>
                </a:solidFill>
                <a:latin typeface="Segoe UI"/>
              </a:rPr>
              <a:t>24.0/25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8328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16233A"/>
                </a:solidFill>
                <a:latin typeface="Segoe UI"/>
              </a:rPr>
              <a:t>Avg quality (optimised)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6840" y="1828800"/>
            <a:ext cx="2651760" cy="21945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06840" y="1828800"/>
            <a:ext cx="2651760" cy="128016"/>
          </a:xfrm>
          <a:prstGeom prst="rect">
            <a:avLst/>
          </a:prstGeom>
          <a:solidFill>
            <a:srgbClr val="5F6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2286000"/>
            <a:ext cx="26517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5F6B7D"/>
                </a:solidFill>
                <a:latin typeface="Segoe UI"/>
              </a:rPr>
              <a:t>2,413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38328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16233A"/>
                </a:solidFill>
                <a:latin typeface="Segoe UI"/>
              </a:rPr>
              <a:t>Total tokens saved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6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F6B7D"/>
                </a:solidFill>
                <a:latin typeface="Segoe UI"/>
              </a:rPr>
              <a:t>Baseline quality averaged 19.5/25 — optimised is equal or higher in every case, at a fraction of the cost.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25-POINT RUBRIC, PER FEATURE REQUEST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Quality — Baseline vs Optimised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63040"/>
          <a:ext cx="108813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DESKTOP APP · CLI · DASHBOARD · GUIDED DEMO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0233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65C"/>
                </a:solidFill>
                <a:latin typeface="Segoe UI"/>
              </a:rPr>
              <a:t>Desktop app (3 tabs)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16233A"/>
                </a:solidFill>
                <a:latin typeface="Segoe UI"/>
              </a:rPr>
              <a:t>Token Optimizer, Feature-Dev Skills, and a Dashboard with native charts.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65C"/>
                </a:solidFill>
                <a:latin typeface="Segoe UI"/>
              </a:rPr>
              <a:t>CLI (tokenopt)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16233A"/>
                </a:solidFill>
                <a:latin typeface="Segoe UI"/>
              </a:rPr>
              <a:t>compress-prd · anchor-plan · route · ab-suite · dashboard.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65C"/>
                </a:solidFill>
                <a:latin typeface="Segoe UI"/>
              </a:rPr>
              <a:t>Guided demo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16233A"/>
                </a:solidFill>
                <a:latin typeface="Segoe UI"/>
              </a:rPr>
              <a:t>Help → Guided Demo: an automated tour that runs each feature live.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65C"/>
                </a:solidFill>
                <a:latin typeface="Segoe UI"/>
              </a:rPr>
              <a:t>Skill plugins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6233A"/>
                </a:solidFill>
                <a:latin typeface="Segoe UI"/>
              </a:rPr>
              <a:t>Self-contained, independently-maintained packages under skills/ (code + SKILL.md + tests).</a:t>
            </a:r>
          </a:p>
        </p:txBody>
      </p:sp>
      <p:pic>
        <p:nvPicPr>
          <p:cNvPr id="6" name="Picture 5" descr="hackcelerat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63040"/>
            <a:ext cx="6766560" cy="5160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37760" y="5989320"/>
            <a:ext cx="6766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B7D"/>
                </a:solidFill>
                <a:latin typeface="Segoe UI"/>
              </a:rPr>
              <a:t>In-app A/B validation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NARRATED WALKTHROUGH OF EVERY FEATURE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Demo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65C"/>
                </a:solidFill>
                <a:latin typeface="Segoe UI"/>
              </a:rPr>
              <a:t>A 3:14 narrated video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16233A"/>
                </a:solidFill>
                <a:latin typeface="Segoe UI"/>
              </a:rPr>
              <a:t>16 scenes with voice-over and on-screen captions.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65C"/>
                </a:solidFill>
                <a:latin typeface="Segoe UI"/>
              </a:rPr>
              <a:t>Covers every feature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16233A"/>
                </a:solidFill>
                <a:latin typeface="Segoe UI"/>
              </a:rPr>
              <a:t>Document / JIRA / GitHub optimization, the offline pipeline, both skills, A/B validation, the dashboard, the guided demo, and the CLI.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2365C"/>
                </a:solidFill>
                <a:latin typeface="Segoe UI"/>
              </a:rPr>
              <a:t>Reproducible &amp; offline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300" b="0">
                <a:solidFill>
                  <a:srgbClr val="16233A"/>
                </a:solidFill>
                <a:latin typeface="Segoe UI"/>
              </a:rPr>
              <a:t>Built with scripts/generate_demo_video.py (SAPI voice-over + ffmpeg).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F6B7D"/>
                </a:solidFill>
                <a:latin typeface="Segoe UI"/>
              </a:rPr>
              <a:t>File: docs/TokenOptimizer-Demo.mp4</a:t>
            </a:r>
          </a:p>
        </p:txBody>
      </p:sp>
      <p:pic>
        <p:nvPicPr>
          <p:cNvPr id="6" name="Picture 5" descr="app_optim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554480"/>
            <a:ext cx="6583680" cy="36779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7790688" y="2863088"/>
            <a:ext cx="1060704" cy="1060704"/>
          </a:xfrm>
          <a:prstGeom prst="ellipse">
            <a:avLst/>
          </a:prstGeom>
          <a:solidFill>
            <a:srgbClr val="12365C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2844800"/>
            <a:ext cx="1060704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Segoe UI"/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5806440"/>
            <a:ext cx="6583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5F6B7D"/>
                </a:solidFill>
                <a:latin typeface="Segoe UI"/>
              </a:rPr>
              <a:t>TokenOptimizer-Demo.mp4  ·  3:14  ·  voice-over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LAYERED, OFFLINE-FIRST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881360" cy="841248"/>
          </a:xfrm>
          <a:prstGeom prst="round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108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Interfaces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554480"/>
            <a:ext cx="73152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EEF7"/>
                </a:solidFill>
                <a:latin typeface="Segoe UI"/>
              </a:rPr>
              <a:t>CLI · Desktop UI · Packaged skills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87168"/>
            <a:ext cx="10881360" cy="841248"/>
          </a:xfrm>
          <a:prstGeom prst="round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3108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Skills &amp;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87168"/>
            <a:ext cx="73152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EEF7"/>
                </a:solidFill>
                <a:latin typeface="Segoe UI"/>
              </a:rPr>
              <a:t>prd · anchor · router · A/B runner · dashboard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881360" cy="841248"/>
          </a:xfrm>
          <a:prstGeom prst="roundRect">
            <a:avLst/>
          </a:prstGeom>
          <a:solidFill>
            <a:srgbClr val="134A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19856"/>
            <a:ext cx="3108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Optimize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3419856"/>
            <a:ext cx="73152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EEF7"/>
                </a:solidFill>
                <a:latin typeface="Segoe UI"/>
              </a:rPr>
              <a:t>reductions · compress · summarize · prefilter · tokens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52544"/>
            <a:ext cx="10881360" cy="841248"/>
          </a:xfrm>
          <a:prstGeom prst="roundRect">
            <a:avLst/>
          </a:prstGeom>
          <a:solidFill>
            <a:srgbClr val="2C6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52544"/>
            <a:ext cx="3108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Integrations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352544"/>
            <a:ext cx="73152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EEF7"/>
                </a:solidFill>
                <a:latin typeface="Segoe UI"/>
              </a:rPr>
              <a:t>JIRA · GitHub · GitLab · Jenkins · Azure DevOps · documents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85232"/>
            <a:ext cx="10881360" cy="841248"/>
          </a:xfrm>
          <a:prstGeom prst="roundRect">
            <a:avLst/>
          </a:prstGeom>
          <a:solidFill>
            <a:srgbClr val="1E8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85232"/>
            <a:ext cx="310896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285232"/>
            <a:ext cx="73152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E8EEF7"/>
                </a:solidFill>
                <a:latin typeface="Segoe UI"/>
              </a:rPr>
              <a:t>config · run_log · llm (client + cache)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64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FB4E0"/>
                </a:solidFill>
                <a:latin typeface="Segoe UI"/>
              </a:rPr>
              <a:t>WHY IT SCALES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881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Direct cost savings of up to ~58% on AI-assisted development spend.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Validated across 2 business units — extensible to the whole org.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Higher trust in AI output through verifiable file:line anchoring.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800" b="0">
                <a:solidFill>
                  <a:srgbClr val="16233A"/>
                </a:solidFill>
                <a:latin typeface="Segoe UI"/>
              </a:rPr>
              <a:t>•  Data-driven — every claim backed by A/B evidence, not anecdote.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06440"/>
            <a:ext cx="10881360" cy="50292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2365C"/>
                </a:solidFill>
                <a:latin typeface="Segoe UI"/>
              </a:rPr>
              <a:t>Offline-first: real savings with no API key; better still with Claude or a local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TokenOptimizer — Hackcelerate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188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F6B7D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73152"/>
          </a:xfrm>
          <a:prstGeom prst="rect">
            <a:avLst/>
          </a:prstGeom>
          <a:solidFill>
            <a:srgbClr val="1A5E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35% cheaper. Equal or better quality.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118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D6E2F2"/>
                </a:solidFill>
                <a:latin typeface="Segoe UI"/>
              </a:rPr>
              <a:t>Validated across 8 A/B tests and 2 business units — ~73% compression, ~58% savings, 24.0/25 quality.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120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8FB4E0"/>
                </a:solidFill>
                <a:latin typeface="Segoe UI"/>
              </a:rPr>
              <a:t>Thank you  ·  TokenOptimizer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